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97e00d3b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d97e00d3b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g3d97e00d3b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97e00d3b7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d97e00d3b7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g3d97e00d3b7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97e00d3b7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d97e00d3b7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3d97e00d3b7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97e00d3b7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d97e00d3b7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d97e00d3b7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97e00d3b7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d97e00d3b7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g3d97e00d3b7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97e00d3b7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d97e00d3b7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d97e00d3b7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97e00d3b7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d97e00d3b7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d97e00d3b7_0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97e00d3b7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d97e00d3b7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97e00d3b7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97e00d3b7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97e00d3b7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d97e00d3b7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675ae789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e675ae789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g3e675ae789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280"/>
                </a:solidFill>
              </a:rPr>
              <a:t>[We can’t do the adjustment formula because we do not have treatment and control for the same time. This violates the “overlap” condition required for a sufficient adjustment set. You’re either in a before-treatment time and untreated or an after-treatment time and treated.]</a:t>
            </a:r>
            <a:endParaRPr/>
          </a:p>
        </p:txBody>
      </p:sp>
      <p:sp>
        <p:nvSpPr>
          <p:cNvPr id="268" name="Google Shape;268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97b278130_7_0)">
  <p:cSld name="Generated (g3d97b278130_7_0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262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Causal Inference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B51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DB515"/>
                </a:solidFill>
                <a:latin typeface="Calibri"/>
                <a:ea typeface="Calibri"/>
                <a:cs typeface="Calibri"/>
                <a:sym typeface="Calibri"/>
              </a:rPr>
              <a:t>DAGs and All That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Sean Richardson  |  Stat 214  |  Spring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731520" y="173260"/>
            <a:ext cx="7680900" cy="1463100"/>
          </a:xfrm>
          <a:prstGeom prst="rect">
            <a:avLst/>
          </a:prstGeom>
          <a:solidFill>
            <a:srgbClr val="F5F5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1097280" y="310420"/>
            <a:ext cx="694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"We ran a regression and found that X predicts Y.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Should we intervene on X?"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731520" y="182881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Can we answer this with data alone, no assumptions? Raw empiricism?</a:t>
            </a:r>
            <a:endParaRPr b="0" i="0" sz="180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1097280" y="2468890"/>
            <a:ext cx="694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Does the new feature increase retention, or do engaged users just adopt it first?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Does this drug reduce mortality, or are healthier patients more likely to take it?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Does college increase earnings, or do higher-earners select into college?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731520" y="173260"/>
            <a:ext cx="7680900" cy="1463100"/>
          </a:xfrm>
          <a:prstGeom prst="rect">
            <a:avLst/>
          </a:prstGeom>
          <a:solidFill>
            <a:srgbClr val="F5F5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1097280" y="310420"/>
            <a:ext cx="694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"We ran a regression and found that X predicts Y.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Should we intervene on X?"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731520" y="182881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Can we answer this with data alone, no assumptions? Raw empiricism?</a:t>
            </a:r>
            <a:endParaRPr b="0" i="0" sz="180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0777" y="2907563"/>
            <a:ext cx="1673576" cy="2030223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4742825" y="2845250"/>
            <a:ext cx="1039500" cy="693000"/>
          </a:xfrm>
          <a:prstGeom prst="wedgeEllipseCallout">
            <a:avLst>
              <a:gd fmla="val -55207" name="adj1"/>
              <a:gd fmla="val 56631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7"/>
          <p:cNvSpPr txBox="1"/>
          <p:nvPr/>
        </p:nvSpPr>
        <p:spPr>
          <a:xfrm>
            <a:off x="723900" y="381000"/>
            <a:ext cx="7696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You Can't Move Up the Causal Ladder Without Assumptions</a:t>
            </a:r>
            <a:endParaRPr b="1" i="0" sz="2000" u="none" cap="none" strike="noStrike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7"/>
          <p:cNvSpPr txBox="1"/>
          <p:nvPr/>
        </p:nvSpPr>
        <p:spPr>
          <a:xfrm>
            <a:off x="723900" y="1000125"/>
            <a:ext cx="769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alone is never enough to climb from observation to intervention.</a:t>
            </a:r>
            <a:endParaRPr b="0" i="0" sz="180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"/>
          <p:cNvSpPr/>
          <p:nvPr/>
        </p:nvSpPr>
        <p:spPr>
          <a:xfrm>
            <a:off x="5367575" y="2123125"/>
            <a:ext cx="3516300" cy="2044500"/>
          </a:xfrm>
          <a:prstGeom prst="roundRect">
            <a:avLst>
              <a:gd fmla="val 3571" name="adj"/>
            </a:avLst>
          </a:prstGeom>
          <a:solidFill>
            <a:srgbClr val="F5F5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"/>
              <a:buFont typeface="Arial"/>
              <a:buNone/>
            </a:pPr>
            <a:r>
              <a:t/>
            </a:r>
            <a:endParaRPr b="0" i="0" sz="13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7"/>
          <p:cNvSpPr txBox="1"/>
          <p:nvPr/>
        </p:nvSpPr>
        <p:spPr>
          <a:xfrm>
            <a:off x="5552637" y="2049813"/>
            <a:ext cx="3146100" cy="22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729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/>
              <a:buNone/>
            </a:pPr>
            <a:r>
              <a:rPr b="1" i="0" lang="en-US" sz="1805" u="none" cap="none" strike="noStrik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No Pulling Rabbits Out of Hats!</a:t>
            </a:r>
            <a:endParaRPr b="1" i="0" sz="1805" u="none" cap="none" strike="noStrike">
              <a:solidFill>
                <a:srgbClr val="9B23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9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You cannot reach a higher level without external domain knowledge or structural assumptions. </a:t>
            </a:r>
            <a:r>
              <a:rPr b="1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Without constraints, lower-level phenomena consistent with multiple higher-level explanations.</a:t>
            </a:r>
            <a:endParaRPr b="0" i="0" sz="1400" u="none" cap="none" strike="noStrike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7"/>
          <p:cNvPicPr preferRelativeResize="0"/>
          <p:nvPr/>
        </p:nvPicPr>
        <p:blipFill rotWithShape="1">
          <a:blip r:embed="rId3">
            <a:alphaModFix/>
          </a:blip>
          <a:srcRect b="-4358" l="-7292" r="-7902" t="-1935"/>
          <a:stretch/>
        </p:blipFill>
        <p:spPr>
          <a:xfrm>
            <a:off x="0" y="1381113"/>
            <a:ext cx="5645275" cy="3192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8"/>
          <p:cNvPicPr preferRelativeResize="0"/>
          <p:nvPr/>
        </p:nvPicPr>
        <p:blipFill rotWithShape="1">
          <a:blip r:embed="rId3">
            <a:alphaModFix/>
          </a:blip>
          <a:srcRect b="-4358" l="-7292" r="-7902" t="-1935"/>
          <a:stretch/>
        </p:blipFill>
        <p:spPr>
          <a:xfrm>
            <a:off x="49175" y="0"/>
            <a:ext cx="90948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rPr>
              <a:t>Directed Acyclic Graphs (DAGs)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9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DAG is a picture of your assumptions about what causes what.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45920"/>
            <a:ext cx="4114800" cy="14630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/>
          <p:nvPr/>
        </p:nvSpPr>
        <p:spPr>
          <a:xfrm>
            <a:off x="5018375" y="2103118"/>
            <a:ext cx="320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003262"/>
                </a:solidFill>
                <a:latin typeface="Consolas"/>
                <a:ea typeface="Consolas"/>
                <a:cs typeface="Consolas"/>
                <a:sym typeface="Consolas"/>
              </a:rPr>
              <a:t>"X causes Y"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9"/>
          <p:cNvSpPr/>
          <p:nvPr/>
        </p:nvSpPr>
        <p:spPr>
          <a:xfrm>
            <a:off x="731520" y="3108940"/>
            <a:ext cx="7680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Directed: arrows indicate causal direction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Acyclic: no feedback loops (X can't cause itself)</a:t>
            </a:r>
            <a:endParaRPr b="0" i="0" sz="1500" u="none" cap="none" strike="noStrike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Graph: nodes and arrows</a:t>
            </a:r>
            <a:endParaRPr b="0" i="0" sz="1500" u="none" cap="none" strike="noStrike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Encodes conditional independences via d-separation (can elaborate in more detail)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B2335"/>
              </a:buClr>
              <a:buSzPts val="1500"/>
              <a:buFont typeface="Calibri"/>
              <a:buChar char="•"/>
            </a:pPr>
            <a:r>
              <a:rPr b="1" i="0" lang="en-US" sz="1500" u="none" cap="none" strike="noStrik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Not estimated from data, but drawn from domain knowledge: your causal model of the world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731520" y="173260"/>
            <a:ext cx="7680900" cy="1463100"/>
          </a:xfrm>
          <a:prstGeom prst="rect">
            <a:avLst/>
          </a:prstGeom>
          <a:solidFill>
            <a:srgbClr val="F5F5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1097280" y="310420"/>
            <a:ext cx="694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"We ran a regression and found that X predicts Y.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Should we intervene on X?"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731520" y="182881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Simple solution</a:t>
            </a: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: to (partially) separate correlation from causation, just </a:t>
            </a: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condition on everything except X?</a:t>
            </a:r>
            <a:endParaRPr b="0" i="0" sz="180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731520" y="173260"/>
            <a:ext cx="7680900" cy="1463100"/>
          </a:xfrm>
          <a:prstGeom prst="rect">
            <a:avLst/>
          </a:prstGeom>
          <a:solidFill>
            <a:srgbClr val="F5F5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1"/>
          <p:cNvSpPr/>
          <p:nvPr/>
        </p:nvSpPr>
        <p:spPr>
          <a:xfrm>
            <a:off x="1097280" y="310420"/>
            <a:ext cx="694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"We ran a regression and found that X predicts Y.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Should we intervene on X?"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1"/>
          <p:cNvSpPr/>
          <p:nvPr/>
        </p:nvSpPr>
        <p:spPr>
          <a:xfrm>
            <a:off x="731520" y="182881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Simple solution: to (partially) separate correlation from causation, just condition on everything except X?</a:t>
            </a:r>
            <a:endParaRPr sz="1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1"/>
          <p:cNvSpPr/>
          <p:nvPr/>
        </p:nvSpPr>
        <p:spPr>
          <a:xfrm>
            <a:off x="576300" y="2569951"/>
            <a:ext cx="3733500" cy="22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Example #1: </a:t>
            </a:r>
            <a:r>
              <a:rPr lang="en-US" sz="16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Ice cream sales (X), drowning (Y), with additional covariate temperature (Z). Condition on Z?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/>
          <p:nvPr/>
        </p:nvSpPr>
        <p:spPr>
          <a:xfrm>
            <a:off x="731520" y="173260"/>
            <a:ext cx="7680900" cy="1463100"/>
          </a:xfrm>
          <a:prstGeom prst="rect">
            <a:avLst/>
          </a:prstGeom>
          <a:solidFill>
            <a:srgbClr val="F5F5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2"/>
          <p:cNvSpPr/>
          <p:nvPr/>
        </p:nvSpPr>
        <p:spPr>
          <a:xfrm>
            <a:off x="1097280" y="310420"/>
            <a:ext cx="694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"We ran a regression and found that X predicts Y.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Should we intervene on X?"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731520" y="182881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Simple solution: to </a:t>
            </a: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(partially) </a:t>
            </a: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separate correlation from causation, just condition on everything except X?</a:t>
            </a:r>
            <a:endParaRPr sz="1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2"/>
          <p:cNvSpPr/>
          <p:nvPr/>
        </p:nvSpPr>
        <p:spPr>
          <a:xfrm>
            <a:off x="576300" y="2569951"/>
            <a:ext cx="3733500" cy="22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Example #1: </a:t>
            </a:r>
            <a:r>
              <a:rPr lang="en-US" sz="16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Ice cream sales (X), drowning (Y), with additional covariate temperature (Z). Condition on Z?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2"/>
          <p:cNvSpPr/>
          <p:nvPr/>
        </p:nvSpPr>
        <p:spPr>
          <a:xfrm>
            <a:off x="5852215" y="2575945"/>
            <a:ext cx="2560200" cy="2286000"/>
          </a:xfrm>
          <a:prstGeom prst="rect">
            <a:avLst/>
          </a:prstGeom>
          <a:solidFill>
            <a:srgbClr val="F5F5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2"/>
          <p:cNvSpPr/>
          <p:nvPr/>
        </p:nvSpPr>
        <p:spPr>
          <a:xfrm>
            <a:off x="5852215" y="2621665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Fork (Confounding)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55" y="3033145"/>
            <a:ext cx="237744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2"/>
          <p:cNvSpPr/>
          <p:nvPr/>
        </p:nvSpPr>
        <p:spPr>
          <a:xfrm>
            <a:off x="5943655" y="4038985"/>
            <a:ext cx="237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Conditioning on Z blocks the backdoor path (GOOD!)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/>
          <p:nvPr/>
        </p:nvSpPr>
        <p:spPr>
          <a:xfrm>
            <a:off x="731520" y="173260"/>
            <a:ext cx="7680900" cy="1463100"/>
          </a:xfrm>
          <a:prstGeom prst="rect">
            <a:avLst/>
          </a:prstGeom>
          <a:solidFill>
            <a:srgbClr val="F5F5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1097280" y="310420"/>
            <a:ext cx="694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"We ran a regression and found that X predicts Y.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Should we intervene on X?"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731520" y="182881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Simple solution: to </a:t>
            </a: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(partially) </a:t>
            </a: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separate correlation from causation, just condition on everything except X?</a:t>
            </a:r>
            <a:endParaRPr sz="1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576300" y="2569951"/>
            <a:ext cx="3733500" cy="22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Example #2: </a:t>
            </a:r>
            <a:r>
              <a:rPr lang="en-US" sz="16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Ozempic</a:t>
            </a:r>
            <a:r>
              <a:rPr lang="en-US" sz="16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(X), weight loss (Y), with additional covariate daily calories (Z). Condition on Z?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731520" y="173260"/>
            <a:ext cx="7680900" cy="1463100"/>
          </a:xfrm>
          <a:prstGeom prst="rect">
            <a:avLst/>
          </a:prstGeom>
          <a:solidFill>
            <a:srgbClr val="F5F5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1097280" y="310420"/>
            <a:ext cx="694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"We ran a regression and found that X predicts Y.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Should we intervene on X?"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731520" y="182881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Simple solution: to </a:t>
            </a: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(partially) </a:t>
            </a: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separate correlation from causation, just condition on everything except X?</a:t>
            </a:r>
            <a:endParaRPr sz="1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576300" y="2569951"/>
            <a:ext cx="3733500" cy="22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Example #2: </a:t>
            </a:r>
            <a:r>
              <a:rPr lang="en-US" sz="16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Ozempic (X), weight loss (Y), with additional covariate daily calories (Z). Condition on Z?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5852225" y="2569945"/>
            <a:ext cx="2560200" cy="2286000"/>
          </a:xfrm>
          <a:prstGeom prst="rect">
            <a:avLst/>
          </a:prstGeom>
          <a:solidFill>
            <a:srgbClr val="F5F5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5852225" y="2615665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Chain (Mediation)</a:t>
            </a:r>
            <a:endParaRPr b="1" i="0" sz="1400" u="none" cap="none" strike="noStrike">
              <a:solidFill>
                <a:srgbClr val="0032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65" y="3027145"/>
            <a:ext cx="237744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/>
        </p:nvSpPr>
        <p:spPr>
          <a:xfrm>
            <a:off x="5943665" y="4032985"/>
            <a:ext cx="237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Conditioning on Z blocks the causal pathway (BAD if you want the total effect!)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731520" y="173260"/>
            <a:ext cx="7680900" cy="1463100"/>
          </a:xfrm>
          <a:prstGeom prst="rect">
            <a:avLst/>
          </a:prstGeom>
          <a:solidFill>
            <a:srgbClr val="F5F5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1097280" y="310420"/>
            <a:ext cx="694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"We ran a regression and found that X predicts Y.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Should we intervene on X?"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731520" y="182881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Simple solution: to </a:t>
            </a: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(partially) </a:t>
            </a: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separate correlation from causation, just condition on everything except X?</a:t>
            </a:r>
            <a:endParaRPr sz="1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76300" y="2569951"/>
            <a:ext cx="3733500" cy="22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Examp</a:t>
            </a:r>
            <a:r>
              <a:rPr b="1" lang="en-US" sz="16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 #</a:t>
            </a:r>
            <a:r>
              <a:rPr b="1" lang="en-US" sz="16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6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Obesity</a:t>
            </a:r>
            <a:r>
              <a:rPr lang="en-US" sz="16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(X), survival (Y), with additional covariate ICU hospital admissions (Z). Condition on Z?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/>
          <p:nvPr/>
        </p:nvSpPr>
        <p:spPr>
          <a:xfrm>
            <a:off x="731520" y="173260"/>
            <a:ext cx="7680900" cy="1463100"/>
          </a:xfrm>
          <a:prstGeom prst="rect">
            <a:avLst/>
          </a:prstGeom>
          <a:solidFill>
            <a:srgbClr val="F5F5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1097280" y="310420"/>
            <a:ext cx="6949500" cy="1188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"We ran a regression and found that X predicts Y.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Should we intervene on X?"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731520" y="182881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Simple solution: to </a:t>
            </a: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(partially) </a:t>
            </a: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separate correlation from causation, just condition on everything except X?</a:t>
            </a:r>
            <a:endParaRPr sz="1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576300" y="2569951"/>
            <a:ext cx="3733500" cy="22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Examp</a:t>
            </a:r>
            <a:r>
              <a:rPr b="1" lang="en-US" sz="16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 #</a:t>
            </a:r>
            <a:r>
              <a:rPr b="1" lang="en-US" sz="16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6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Obesity (X), survival (Y), with additional covariate ICU hospital admissions (Z). Condition on Z?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6137330" y="2575945"/>
            <a:ext cx="2560200" cy="2286000"/>
          </a:xfrm>
          <a:prstGeom prst="rect">
            <a:avLst/>
          </a:prstGeom>
          <a:solidFill>
            <a:srgbClr val="F5F5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6137330" y="2621665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Collider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8770" y="3033145"/>
            <a:ext cx="237744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/>
          <p:nvPr/>
        </p:nvSpPr>
        <p:spPr>
          <a:xfrm>
            <a:off x="6228770" y="4038985"/>
            <a:ext cx="237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Conditioning on Z OPENS the path (BAD!)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rPr>
              <a:t>Three Patterns, Three Lessons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457200" y="1188720"/>
            <a:ext cx="2560320" cy="2286000"/>
          </a:xfrm>
          <a:prstGeom prst="rect">
            <a:avLst/>
          </a:prstGeom>
          <a:solidFill>
            <a:srgbClr val="F5F5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457200" y="12344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Chain (Mediation)</a:t>
            </a:r>
            <a:endParaRPr b="1" i="0" sz="1400" u="none" cap="none" strike="noStrike">
              <a:solidFill>
                <a:srgbClr val="0032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45920"/>
            <a:ext cx="237744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/>
          <p:nvPr/>
        </p:nvSpPr>
        <p:spPr>
          <a:xfrm>
            <a:off x="548640" y="265176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Conditioning on Z blocks the causal pathway (BAD if you want the total effect!)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3291840" y="1188720"/>
            <a:ext cx="2560320" cy="2286000"/>
          </a:xfrm>
          <a:prstGeom prst="rect">
            <a:avLst/>
          </a:prstGeom>
          <a:solidFill>
            <a:srgbClr val="F5F5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3291840" y="12344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Fork (Confounding)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0" y="1645920"/>
            <a:ext cx="237744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/>
          <p:nvPr/>
        </p:nvSpPr>
        <p:spPr>
          <a:xfrm>
            <a:off x="3383280" y="265176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Conditioning on Z blocks the backdoor path (GOOD!)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6126480" y="1188720"/>
            <a:ext cx="2560320" cy="2286000"/>
          </a:xfrm>
          <a:prstGeom prst="rect">
            <a:avLst/>
          </a:prstGeom>
          <a:solidFill>
            <a:srgbClr val="F5F5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126480" y="12344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Collider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0" y="1645920"/>
            <a:ext cx="237744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/>
          <p:nvPr/>
        </p:nvSpPr>
        <p:spPr>
          <a:xfrm>
            <a:off x="6217920" y="265176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Conditioning on Z OPENS the path (BAD!)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Upshot</a:t>
            </a:r>
            <a:r>
              <a:rPr b="1" i="0" lang="en-US" sz="17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: conditioning can remove bias (forks) or create bias (mediators, </a:t>
            </a:r>
            <a:r>
              <a:rPr b="1" lang="en-US" sz="1700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colliders</a:t>
            </a:r>
            <a:r>
              <a:rPr b="1" i="0" lang="en-US" sz="17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). “Just condition on everything” is no good!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rPr>
              <a:t>More on </a:t>
            </a:r>
            <a:r>
              <a:rPr b="1" i="0" lang="en-US" sz="3200" u="none" cap="none" strike="noStrik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rPr>
              <a:t>Confounding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384048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4572000" y="1097280"/>
            <a:ext cx="4114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Does ice cream sales (X) cause drowning (Y)?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No. Summer heat (Z) causes both.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spurious association between X and Y flows through the </a:t>
            </a:r>
            <a:r>
              <a:rPr b="1" i="0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backdoor path</a:t>
            </a:r>
            <a:r>
              <a:rPr b="0" i="0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X ← Z → 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Conditioning on Z blocks this path and recovers the causal effect.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731520" y="3694445"/>
            <a:ext cx="7680900" cy="10974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914400" y="3740165"/>
            <a:ext cx="7315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The Adjustment Formula (Backdoor Criterion)</a:t>
            </a:r>
            <a:br>
              <a:rPr b="1" i="0" lang="en-US" sz="15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1C1C1C"/>
                </a:solidFill>
                <a:latin typeface="Consolas"/>
                <a:ea typeface="Consolas"/>
                <a:cs typeface="Consolas"/>
                <a:sym typeface="Consolas"/>
              </a:rPr>
              <a:t>P(Y | do(X)) = Σ</a:t>
            </a:r>
            <a:r>
              <a:rPr b="0" i="0" lang="en-US" sz="1100" u="none" cap="none" strike="noStrike">
                <a:solidFill>
                  <a:srgbClr val="1C1C1C"/>
                </a:solidFill>
                <a:latin typeface="Consolas"/>
                <a:ea typeface="Consolas"/>
                <a:cs typeface="Consolas"/>
                <a:sym typeface="Consolas"/>
              </a:rPr>
              <a:t>z</a:t>
            </a:r>
            <a:r>
              <a:rPr b="0" i="0" lang="en-US" sz="1400" u="none" cap="none" strike="noStrike">
                <a:solidFill>
                  <a:srgbClr val="1C1C1C"/>
                </a:solidFill>
                <a:latin typeface="Consolas"/>
                <a:ea typeface="Consolas"/>
                <a:cs typeface="Consolas"/>
                <a:sym typeface="Consolas"/>
              </a:rPr>
              <a:t> P(Y | X, Z=z) P(Z=z)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If Z is a sufficient adjustment set (can elaborate), we can estimate causal effects by conditioning on Z and averaging over Z values.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/>
          <p:nvPr/>
        </p:nvSpPr>
        <p:spPr>
          <a:xfrm>
            <a:off x="731520" y="36576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9B2335"/>
                </a:solidFill>
                <a:latin typeface="Georgia"/>
                <a:ea typeface="Georgia"/>
                <a:cs typeface="Georgia"/>
                <a:sym typeface="Georgia"/>
              </a:rPr>
              <a:t>More on </a:t>
            </a:r>
            <a:r>
              <a:rPr b="1" i="0" lang="en-US" sz="3000" u="none" cap="none" strike="noStrike">
                <a:solidFill>
                  <a:srgbClr val="9B2335"/>
                </a:solidFill>
                <a:latin typeface="Georgia"/>
                <a:ea typeface="Georgia"/>
                <a:cs typeface="Georgia"/>
                <a:sym typeface="Georgia"/>
              </a:rPr>
              <a:t>Collider</a:t>
            </a:r>
            <a:r>
              <a:rPr b="1" lang="en-US" sz="3000">
                <a:solidFill>
                  <a:srgbClr val="9B2335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5251825" y="507675"/>
            <a:ext cx="3840600" cy="227310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None/>
            </a:pPr>
            <a:r>
              <a:rPr b="0" i="1" lang="en-US" u="none" cap="none" strike="sng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"Why are the cool kids smart and the not-cool kids not-smart?”</a:t>
            </a:r>
            <a:r>
              <a:rPr i="1" lang="en-US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i="1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None/>
            </a:pPr>
            <a:r>
              <a:rPr i="1" lang="en-US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“Why are the hot guys not-nice and the not-hot guys not-nice?”</a:t>
            </a:r>
            <a:endParaRPr b="0" i="0" u="none" cap="none" strike="sng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Suppose no population-level correlation. If you only observe people in a limited sample (conditioning on the collider), a spurious negative correlation appears</a:t>
            </a:r>
            <a:r>
              <a:rPr lang="en-US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! </a:t>
            </a:r>
            <a:r>
              <a:rPr b="1" lang="en-US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Berkson’s Paradox.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7225" y="3230875"/>
            <a:ext cx="4829475" cy="191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g_berkson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550" y="1245330"/>
            <a:ext cx="5029201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731520" y="365760"/>
            <a:ext cx="777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Example: </a:t>
            </a:r>
            <a:r>
              <a:rPr b="1" i="0" lang="en-US" sz="30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Berkeley Admissions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731520" y="1280160"/>
            <a:ext cx="7772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UC Berkeley, 1973: overall, 44% of male applicants were admitted, but only 35% of female applicants. We 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also have department-specific data.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rgbClr val="9B2335"/>
                </a:solidFill>
                <a:latin typeface="Arial"/>
                <a:ea typeface="Arial"/>
                <a:cs typeface="Arial"/>
                <a:sym typeface="Arial"/>
              </a:rPr>
              <a:t>Is this evidence of gender discrimination in admissions?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This is fundamentally a causal question. </a:t>
            </a:r>
            <a:r>
              <a:rPr b="0" i="0" lang="en-US" sz="1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Draw the DAG of interest. What are the variables? What causes what? Should you condition on department?</a:t>
            </a:r>
            <a:r>
              <a:rPr lang="en-US"/>
              <a:t> </a:t>
            </a:r>
            <a:r>
              <a:rPr b="0" i="1" lang="en-US" sz="16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Discuss with your neighbor for 2 minutes.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/>
        </p:nvSpPr>
        <p:spPr>
          <a:xfrm>
            <a:off x="731520" y="365760"/>
            <a:ext cx="777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Example: </a:t>
            </a:r>
            <a:r>
              <a:rPr b="1" i="0" lang="en-US" sz="30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Berkeley Admissions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731520" y="1280160"/>
            <a:ext cx="77724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UC Berkeley, 1973: overall, 44% of male applicants were admitted, but only 35% of female applicants.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rgbClr val="9B2335"/>
                </a:solidFill>
                <a:latin typeface="Arial"/>
                <a:ea typeface="Arial"/>
                <a:cs typeface="Arial"/>
                <a:sym typeface="Arial"/>
              </a:rPr>
              <a:t>Is this evidence of gender discrimination in admissions?</a:t>
            </a:r>
            <a:endParaRPr/>
          </a:p>
        </p:txBody>
      </p:sp>
      <p:pic>
        <p:nvPicPr>
          <p:cNvPr descr="dag_berkeley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3650" y="2595800"/>
            <a:ext cx="5256697" cy="23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/>
        </p:nvSpPr>
        <p:spPr>
          <a:xfrm>
            <a:off x="731520" y="365760"/>
            <a:ext cx="777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Berkeley Admissions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731520" y="1200000"/>
            <a:ext cx="81999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Within each department, women were admitted at equal or higher rates.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Women applied disproportionately to more competitive departments. The overall gap was driven by Department, not direct discrimination. This is Simpson's paradox. Causal framing is helpful!</a:t>
            </a:r>
            <a:endParaRPr/>
          </a:p>
        </p:txBody>
      </p:sp>
      <p:pic>
        <p:nvPicPr>
          <p:cNvPr descr="dag_berkeley.png" id="196" name="Google Shape;1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3650" y="2595800"/>
            <a:ext cx="5256697" cy="23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/>
        </p:nvSpPr>
        <p:spPr>
          <a:xfrm>
            <a:off x="731520" y="365760"/>
            <a:ext cx="777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Berkeley Admissions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731520" y="1200000"/>
            <a:ext cx="8199900" cy="38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Within each department, women were admitted at equal or higher rates.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Women applied disproportionately to more competitive departments. The overall gap was driven by Department, not direct discrimination. This is Simpson's paradox. Causal framing is helpful!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9B2335"/>
                </a:solidFill>
                <a:latin typeface="Arial"/>
                <a:ea typeface="Arial"/>
                <a:cs typeface="Arial"/>
                <a:sym typeface="Arial"/>
              </a:rPr>
              <a:t>But is conditioning on Department the right move?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It depends on your causal question. If Gender → Dept → Admission, then Dept is a mediator: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Direct effect of gender? → Condition on Dept.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Total effect of gender? → Don't condition on Dept.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If structural discrimination shapes which departments women are encouraged to apply to, conditioning on Dept hides that effect.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3262"/>
                </a:solidFill>
                <a:latin typeface="Arial"/>
                <a:ea typeface="Arial"/>
                <a:cs typeface="Arial"/>
                <a:sym typeface="Arial"/>
              </a:rPr>
              <a:t>Lesson: you cannot decide what to condition on without first stating your causal question and drawing the DAG.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3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Exercise: Should You Condition on Z?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4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For each DAG, decide: should you adjust for Z to estimate the causal effect of X on Y?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457200" y="1645920"/>
            <a:ext cx="39319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457200" y="16916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DAG 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2" name="Google Shape;21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011680"/>
            <a:ext cx="301752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4"/>
          <p:cNvSpPr/>
          <p:nvPr/>
        </p:nvSpPr>
        <p:spPr>
          <a:xfrm>
            <a:off x="640080" y="33832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C1C1C"/>
                </a:solidFill>
                <a:latin typeface="Consolas"/>
                <a:ea typeface="Consolas"/>
                <a:cs typeface="Consolas"/>
                <a:sym typeface="Consolas"/>
              </a:rPr>
              <a:t>Condition on Z?   ______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4"/>
          <p:cNvSpPr/>
          <p:nvPr/>
        </p:nvSpPr>
        <p:spPr>
          <a:xfrm>
            <a:off x="4754880" y="1645920"/>
            <a:ext cx="39319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4754880" y="16916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DAG 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6" name="Google Shape;21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2080" y="2011680"/>
            <a:ext cx="301752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4"/>
          <p:cNvSpPr/>
          <p:nvPr/>
        </p:nvSpPr>
        <p:spPr>
          <a:xfrm>
            <a:off x="4937760" y="33832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C1C1C"/>
                </a:solidFill>
                <a:latin typeface="Consolas"/>
                <a:ea typeface="Consolas"/>
                <a:cs typeface="Consolas"/>
                <a:sym typeface="Consolas"/>
              </a:rPr>
              <a:t>Condition on Z?   ______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Discuss with your neighbor for 2 minutes.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rPr>
              <a:t>Answers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DAG A: Yes, condition on Z.</a:t>
            </a:r>
            <a:br>
              <a:rPr b="1" i="0" lang="en-US" sz="18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Z is a confounder (fork). It opens a backdoor path X ← Z → Y. Adjusting for Z blocks this spurious association and isolates the causal effect of X on 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731520" y="246888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33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  <a:t>DAG B: No! Do not condition on Z.</a:t>
            </a:r>
            <a:br>
              <a:rPr b="1" i="0" lang="en-US" sz="1800" u="none" cap="none" strike="noStrike">
                <a:solidFill>
                  <a:srgbClr val="9B233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Z is a collider. The path X → Z ← Y is already blocked. Conditioning on Z opens this path and creates a spurious association between X and 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25"/>
          <p:cNvCxnSpPr/>
          <p:nvPr/>
        </p:nvCxnSpPr>
        <p:spPr>
          <a:xfrm>
            <a:off x="731520" y="3840480"/>
            <a:ext cx="768096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25"/>
          <p:cNvSpPr/>
          <p:nvPr/>
        </p:nvSpPr>
        <p:spPr>
          <a:xfrm>
            <a:off x="731520" y="402336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A general rule: </a:t>
            </a:r>
            <a:r>
              <a:rPr b="0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to estimate a causal effect of X on Y, block all backdoor paths by conditioning on appropriate variables. Never condition on a collider or a descendant of a collider</a:t>
            </a:r>
            <a:r>
              <a:rPr lang="en-US" sz="16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/>
          <p:nvPr/>
        </p:nvSpPr>
        <p:spPr>
          <a:xfrm>
            <a:off x="731520" y="173260"/>
            <a:ext cx="7680900" cy="1463100"/>
          </a:xfrm>
          <a:prstGeom prst="rect">
            <a:avLst/>
          </a:prstGeom>
          <a:solidFill>
            <a:srgbClr val="F5F5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6"/>
          <p:cNvSpPr/>
          <p:nvPr/>
        </p:nvSpPr>
        <p:spPr>
          <a:xfrm>
            <a:off x="1097280" y="310420"/>
            <a:ext cx="694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“Ok, so condition on pre-treatment variables, and we are good to go?”</a:t>
            </a:r>
            <a:endParaRPr b="0" i="1" sz="2000" u="none" cap="none" strike="noStrike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731570" y="199861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Problem </a:t>
            </a: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: unobserved confounders!</a:t>
            </a:r>
            <a:endParaRPr b="0" i="0" sz="180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1097230" y="2284790"/>
            <a:ext cx="694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Can’t adjust for something we didn’t measure. Returning to ice cream example, surely temperature isn</a:t>
            </a: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’t the only confounder, but it is all we have data on!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g_unobserved.png" id="238" name="Google Shape;2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0000" y="3000000"/>
            <a:ext cx="4000000" cy="22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/>
          <p:nvPr/>
        </p:nvSpPr>
        <p:spPr>
          <a:xfrm>
            <a:off x="731520" y="173260"/>
            <a:ext cx="7680900" cy="1463100"/>
          </a:xfrm>
          <a:prstGeom prst="rect">
            <a:avLst/>
          </a:prstGeom>
          <a:solidFill>
            <a:srgbClr val="F5F5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7"/>
          <p:cNvSpPr/>
          <p:nvPr/>
        </p:nvSpPr>
        <p:spPr>
          <a:xfrm>
            <a:off x="1097280" y="310420"/>
            <a:ext cx="694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“Ok, so condition on pre-treatment variables, and we are good to go?”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7"/>
          <p:cNvSpPr/>
          <p:nvPr/>
        </p:nvSpPr>
        <p:spPr>
          <a:xfrm>
            <a:off x="731520" y="182881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Problem </a:t>
            </a: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: sometimes pre-treatment variables are not confounders, and conditioning OPENS the backdoor!</a:t>
            </a:r>
            <a:endParaRPr b="0" i="0" sz="180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g_badcontrol.png" id="247" name="Google Shape;24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9588" y="2430035"/>
            <a:ext cx="3984784" cy="2461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/>
          <p:nvPr/>
        </p:nvSpPr>
        <p:spPr>
          <a:xfrm>
            <a:off x="731520" y="173260"/>
            <a:ext cx="7680900" cy="1463100"/>
          </a:xfrm>
          <a:prstGeom prst="rect">
            <a:avLst/>
          </a:prstGeom>
          <a:solidFill>
            <a:srgbClr val="F5F5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8"/>
          <p:cNvSpPr/>
          <p:nvPr/>
        </p:nvSpPr>
        <p:spPr>
          <a:xfrm>
            <a:off x="1097280" y="310420"/>
            <a:ext cx="694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“Ok, so condition on pre-treatment variables, and we are good to go?”</a:t>
            </a:r>
            <a:endParaRPr b="0" i="1" sz="2000" u="none" cap="none" strike="noStrike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8"/>
          <p:cNvSpPr/>
          <p:nvPr/>
        </p:nvSpPr>
        <p:spPr>
          <a:xfrm>
            <a:off x="731570" y="199861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Worst case situation:</a:t>
            </a: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damned if you do, damned if you don’t</a:t>
            </a:r>
            <a:endParaRPr b="0" i="0" sz="180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4525" y="2613085"/>
            <a:ext cx="3234903" cy="2291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/>
          <p:nvPr/>
        </p:nvSpPr>
        <p:spPr>
          <a:xfrm>
            <a:off x="731520" y="173260"/>
            <a:ext cx="7680900" cy="1463100"/>
          </a:xfrm>
          <a:prstGeom prst="rect">
            <a:avLst/>
          </a:prstGeom>
          <a:solidFill>
            <a:srgbClr val="F5F5F3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1097280" y="310420"/>
            <a:ext cx="694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“Ok, so condition on pre-treatment variables, and we are good to go?”</a:t>
            </a:r>
            <a:endParaRPr b="0" i="1" sz="2000" u="none" cap="none" strike="noStrike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9"/>
          <p:cNvSpPr txBox="1"/>
          <p:nvPr/>
        </p:nvSpPr>
        <p:spPr>
          <a:xfrm>
            <a:off x="731525" y="2167250"/>
            <a:ext cx="77277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Sometimes adjustment isn’t enough.</a:t>
            </a:r>
            <a:endParaRPr b="0" i="0" sz="1500" u="none" cap="none" strike="noStrike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Need to exploit randomness or quasi-randomness in the treatment assignment. Running an RCT is the most straightforward method. When not possible, still clever ways of doing this (but with stronger assumptions).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/>
          <p:nvPr/>
        </p:nvSpPr>
        <p:spPr>
          <a:xfrm>
            <a:off x="457195" y="36566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rPr>
              <a:t>Difference-in-Differences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0"/>
          <p:cNvSpPr/>
          <p:nvPr/>
        </p:nvSpPr>
        <p:spPr>
          <a:xfrm>
            <a:off x="457200" y="1051560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0"/>
          <p:cNvSpPr/>
          <p:nvPr/>
        </p:nvSpPr>
        <p:spPr>
          <a:xfrm>
            <a:off x="4233650" y="1388478"/>
            <a:ext cx="4846200" cy="14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We can't just compare before vs. after because time is a confound.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0"/>
          <p:cNvSpPr/>
          <p:nvPr/>
        </p:nvSpPr>
        <p:spPr>
          <a:xfrm>
            <a:off x="4233655" y="3187990"/>
            <a:ext cx="4389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Now we have </a:t>
            </a:r>
            <a:r>
              <a:rPr b="1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two</a:t>
            </a: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backdoors (Time and Group), but we can close both: take within-group changes (closes Group), then compare those changes across groups (closes Time). Find </a:t>
            </a:r>
            <a:r>
              <a:rPr b="1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(treated group after - treated group before) - (untreated group after - untreated group before).</a:t>
            </a:r>
            <a:endParaRPr b="1" i="0" sz="140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Assumption: parallel trends.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049" y="1545863"/>
            <a:ext cx="3673153" cy="8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425" y="2926125"/>
            <a:ext cx="3931700" cy="141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rPr>
              <a:t>Regression Discontinuity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When treatment is assigned by a cutoff on a continuous variable.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1"/>
          <p:cNvSpPr/>
          <p:nvPr/>
        </p:nvSpPr>
        <p:spPr>
          <a:xfrm>
            <a:off x="5120640" y="155448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R </a:t>
            </a:r>
            <a:r>
              <a:rPr b="0" i="0" lang="en-US" sz="15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= running variable (e.g., test score, income)</a:t>
            </a:r>
            <a:br>
              <a:rPr b="0" i="0" lang="en-US" sz="15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b="0" i="0" lang="en-US" sz="15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= 1 if R &gt; cutoff, 0 otherwise</a:t>
            </a:r>
            <a:br>
              <a:rPr b="0" i="0" lang="en-US" sz="15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b="0" i="0" lang="en-US" sz="15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= unobserved confounders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31"/>
          <p:cNvCxnSpPr/>
          <p:nvPr/>
        </p:nvCxnSpPr>
        <p:spPr>
          <a:xfrm>
            <a:off x="731520" y="3017515"/>
            <a:ext cx="768090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31"/>
          <p:cNvSpPr/>
          <p:nvPr/>
        </p:nvSpPr>
        <p:spPr>
          <a:xfrm>
            <a:off x="731550" y="3088051"/>
            <a:ext cx="7680900" cy="16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Key idea: </a:t>
            </a:r>
            <a:r>
              <a:rPr b="0" i="0" lang="en-US" sz="15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near the cutoff, we assume people just above and just below are essentially identical with respect to U. Treatment assignment is as good as random, even though U confounds R and Y globally.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doctor prescribes blood pressure medication if systolic BP &gt;= 135. We </a:t>
            </a:r>
            <a:r>
              <a:rPr b="1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assume </a:t>
            </a: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patients at 134.9 and 135 are nearly identical, so comparing their outcomes identifies the drug's causal effect. </a:t>
            </a:r>
            <a:r>
              <a:rPr b="1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[NOTE: only estimates the causal effect for a particular subpopulation, people at this boundary. Could have heterogeneity: causal effect for someone with systolic BP = 110 or 160 might be very different.]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g_rd.png" id="286" name="Google Shape;28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54480"/>
            <a:ext cx="4572000" cy="146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2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rPr>
              <a:t>Instrumental Variables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2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When you have an unobserved confounder but a source of exogenous variation.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2"/>
          <p:cNvSpPr/>
          <p:nvPr/>
        </p:nvSpPr>
        <p:spPr>
          <a:xfrm>
            <a:off x="5303520" y="155448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Instrument Z must satisfy:</a:t>
            </a:r>
            <a:br>
              <a:rPr b="1" i="0" lang="en-US" sz="15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1. Relevance: Z affects 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2. Exclusion: Z affects Y only through 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3. Independence: Z is independent of U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32"/>
          <p:cNvCxnSpPr/>
          <p:nvPr/>
        </p:nvCxnSpPr>
        <p:spPr>
          <a:xfrm>
            <a:off x="731520" y="3474720"/>
            <a:ext cx="768096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32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Does military service (X) reduce lifetime earnings (Y)? Patriotism, health, socioeconomic background (U) all confound the relationship. Angrist (1990) used Vietnam draft lottery number (Z) as an instrument: the lottery is genuinely random, it strongly predicts who serves, and it plausibly affects earnings only through service.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g_iv.png" id="297" name="Google Shape;29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54480"/>
            <a:ext cx="4754880" cy="1645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"/>
          <p:cNvSpPr/>
          <p:nvPr/>
        </p:nvSpPr>
        <p:spPr>
          <a:xfrm>
            <a:off x="551770" y="320035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rPr>
              <a:t>Before You Run That Regression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4" name="Google Shape;30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3"/>
          <p:cNvSpPr/>
          <p:nvPr/>
        </p:nvSpPr>
        <p:spPr>
          <a:xfrm>
            <a:off x="1234440" y="11887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What causal question are you actually trying to answer?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6" name="Google Shape;30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828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3"/>
          <p:cNvSpPr/>
          <p:nvPr/>
        </p:nvSpPr>
        <p:spPr>
          <a:xfrm>
            <a:off x="1234440" y="1783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Draw the DAG. What are the possible confounders?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8" name="Google Shape;30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2423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3"/>
          <p:cNvSpPr/>
          <p:nvPr/>
        </p:nvSpPr>
        <p:spPr>
          <a:xfrm>
            <a:off x="1234440" y="23774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Are you conditioning on a collider, child of collider, mediator? (Check every variable in your model.)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0" name="Google Shape;31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30175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3"/>
          <p:cNvSpPr/>
          <p:nvPr/>
        </p:nvSpPr>
        <p:spPr>
          <a:xfrm>
            <a:off x="1234440" y="2971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Can you identify the effect, or do you need a design (RCT, DiD, IV, RDD)?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2" name="Google Shape;31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36118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3"/>
          <p:cNvSpPr/>
          <p:nvPr/>
        </p:nvSpPr>
        <p:spPr>
          <a:xfrm>
            <a:off x="1234440" y="35661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What assumptions are you making, and are they plausible?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4" name="Google Shape;31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42062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3"/>
          <p:cNvSpPr/>
          <p:nvPr/>
        </p:nvSpPr>
        <p:spPr>
          <a:xfrm>
            <a:off x="1234440" y="41605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Would a subject-matter expert agree with your DAG?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262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4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4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B515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FDB515"/>
                </a:solidFill>
                <a:latin typeface="Calibri"/>
                <a:ea typeface="Calibri"/>
                <a:cs typeface="Calibri"/>
                <a:sym typeface="Calibri"/>
              </a:rPr>
              <a:t>The Book of Why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Judea Pearl &amp; Dana Mackenzie — accessible intro to DAGs and causal reasoning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B515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FDB515"/>
                </a:solidFill>
                <a:latin typeface="Calibri"/>
                <a:ea typeface="Calibri"/>
                <a:cs typeface="Calibri"/>
                <a:sym typeface="Calibri"/>
              </a:rPr>
              <a:t>The Effect: An Introduction to Research Design and Causality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Huntington-Klein — free online, great textbook (though there are many good alternatives)</a:t>
            </a:r>
            <a:b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FDB515"/>
                </a:solidFill>
                <a:latin typeface="Calibri"/>
                <a:ea typeface="Calibri"/>
                <a:cs typeface="Calibri"/>
                <a:sym typeface="Calibri"/>
              </a:rPr>
              <a:t>Probabilistic Machine Learning: Advanced Topics (Chapter 20)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Veitch and D'Amour— concise overview with an ML angle, written by my MS advisor</a:t>
            </a:r>
            <a:endParaRPr b="0" i="0" sz="1400" u="none" cap="none" strike="noStrike">
              <a:solidFill>
                <a:srgbClr val="E5E7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E5E7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Calibri"/>
              <a:buNone/>
            </a:pPr>
            <a:r>
              <a:rPr b="1" i="0" lang="en-US" sz="1800" u="none" cap="none" strike="noStrike">
                <a:solidFill>
                  <a:srgbClr val="FDB515"/>
                </a:solidFill>
                <a:latin typeface="Calibri"/>
                <a:ea typeface="Calibri"/>
                <a:cs typeface="Calibri"/>
                <a:sym typeface="Calibri"/>
              </a:rPr>
              <a:t>“A Crash Course in Good and Bad Controls”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Cinelli, Forney, and Pearl — more detailed survey similar to what we covered today</a:t>
            </a:r>
            <a:endParaRPr b="0" i="0" sz="1400" u="none" cap="none" strike="noStrike">
              <a:solidFill>
                <a:srgbClr val="E5E7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E5E7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DB515"/>
                </a:solidFill>
                <a:latin typeface="Arial"/>
                <a:ea typeface="Arial"/>
                <a:cs typeface="Arial"/>
                <a:sym typeface="Arial"/>
              </a:rPr>
              <a:t>dagitty.net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Browser tool for drawing DAGs and computing adjustment sets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