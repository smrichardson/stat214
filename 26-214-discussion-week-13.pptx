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326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09728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FDB51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 214 Spring 2026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731520" y="182880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Week 13 Discussion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731520" y="265176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F4F2E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Lab 3.2: BERT &amp; LoRA Fine-Tuning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38404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4/17/2026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" y="42062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2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GSI: Sean Richardson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326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4864"/>
            <a:ext cx="9144000" cy="27432"/>
          </a:xfrm>
          <a:prstGeom prst="rect">
            <a:avLst/>
          </a:prstGeom>
          <a:solidFill>
            <a:srgbClr val="FDB515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2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Announcements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1520" y="1005840"/>
            <a:ext cx="768096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03262"/>
                </a:solidFill>
              </a:rPr>
              <a:t>Office hours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666666"/>
                </a:solidFill>
              </a:rPr>
              <a:t>[TBD — update before Friday]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262"/>
                </a:solidFill>
              </a:rPr>
              <a:t>Lab 3 reminders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2C2C2C"/>
                </a:solidFill>
              </a:rPr>
              <a:t>Part 3.2 check-in due 11:59pm, April 24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2C2C2C"/>
                </a:solidFill>
              </a:rPr>
              <a:t>Final report due 11:59pm, May 8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262"/>
                </a:solidFill>
              </a:rPr>
              <a:t>Reference guides posted on Ed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2C2C2C"/>
                </a:solidFill>
              </a:rPr>
              <a:t>Lab 3 Reference Guide (pipeline, notation, PCS)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2C2C2C"/>
                </a:solidFill>
              </a:rPr>
              <a:t>Lab 3.2 LoRA Fine-Tuning Guide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326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4864"/>
            <a:ext cx="9144000" cy="27432"/>
          </a:xfrm>
          <a:prstGeom prst="rect">
            <a:avLst/>
          </a:prstGeom>
          <a:solidFill>
            <a:srgbClr val="FDB515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2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Outline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1520" y="1005840"/>
            <a:ext cx="768096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2C2C2C"/>
                </a:solidFill>
              </a:rPr>
              <a:t>About me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~ 5 min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2C2C2C"/>
                </a:solidFill>
              </a:rPr>
              <a:t>3.1 debrief: what went well, what was hard?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~ 5 min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2C2C2C"/>
                </a:solidFill>
              </a:rPr>
              <a:t>LoRA and parameter-efficient fine-tuning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~ 15 min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2C2C2C"/>
                </a:solidFill>
              </a:rPr>
              <a:t>Practical tips for 3.2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~ 10 min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2C2C2C"/>
                </a:solidFill>
              </a:rPr>
              <a:t>Questions + lab work time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~ 15 min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326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4864"/>
            <a:ext cx="9144000" cy="27432"/>
          </a:xfrm>
          <a:prstGeom prst="rect">
            <a:avLst/>
          </a:prstGeom>
          <a:solidFill>
            <a:srgbClr val="FDB515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2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About me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1520" y="1005840"/>
            <a:ext cx="768096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03262"/>
                </a:solidFill>
              </a:rPr>
              <a:t>Sean Richardson</a:t>
            </a: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</a:rPr>
              <a:t>he/him · seanrichardson@berkeley.edu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2C2C2C"/>
                </a:solidFill>
              </a:rPr>
              <a:t>1st year PhD student in Statistics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2C2C2C"/>
                </a:solidFill>
              </a:rPr>
              <a:t>MS in Statistics from UChicago (causal inference, interpretability)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2C2C2C"/>
                </a:solidFill>
              </a:rPr>
              <a:t>BA in Philosophy from UCLA, 1 year of law school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400" b="1" dirty="0">
                <a:solidFill>
                  <a:srgbClr val="2C2C2C"/>
                </a:solidFill>
              </a:rPr>
              <a:t>Research interests: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2C2C2C"/>
                </a:solidFill>
              </a:rPr>
              <a:t>AI evaluation, causal inference, mechanistic interpretability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400" i="1" dirty="0">
                <a:solidFill>
                  <a:srgbClr val="666666"/>
                </a:solidFill>
              </a:rPr>
              <a:t>Taking over from Sequoia for the rest of the semester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326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4864"/>
            <a:ext cx="9144000" cy="27432"/>
          </a:xfrm>
          <a:prstGeom prst="rect">
            <a:avLst/>
          </a:prstGeom>
          <a:solidFill>
            <a:srgbClr val="FDB515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2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3.1 Debrief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1520" y="109728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was your experience with 3.1?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1737360"/>
            <a:ext cx="768096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2C2C2C"/>
                </a:solidFill>
              </a:rPr>
              <a:t>What worked well?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2C2C2C"/>
                </a:solidFill>
              </a:rPr>
              <a:t>What was the hardest part?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</a:rPr>
              <a:t>Memory? Storage? Bridges-2?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2C2C2C"/>
                </a:solidFill>
              </a:rPr>
              <a:t>What correlation coefficients did you get?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</a:rPr>
              <a:t>Most voxels near zero is expected!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2C2C2C"/>
                </a:solidFill>
              </a:rPr>
              <a:t>Any questions before we move to 3.2?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326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4864"/>
            <a:ext cx="9144000" cy="27432"/>
          </a:xfrm>
          <a:prstGeom prst="rect">
            <a:avLst/>
          </a:prstGeom>
          <a:solidFill>
            <a:srgbClr val="FDB515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2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fine-tune BERT?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1520" y="1005840"/>
            <a:ext cx="768096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2C2C2C"/>
                </a:solidFill>
              </a:rPr>
              <a:t>Pretrained BERT already produces contextual embeddings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2C2C2C"/>
                </a:solidFill>
              </a:rPr>
              <a:t>But it was trained on Wikipedia + BookCorpus, not podcast stories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2C2C2C"/>
                </a:solidFill>
              </a:rPr>
              <a:t>Fine-tuning adapts the representations to our domain:</a:t>
            </a:r>
            <a:endParaRPr lang="en-US" sz="1500" dirty="0"/>
          </a:p>
          <a:p>
            <a:pPr lvl="1" marL="685800" indent="-342900">
              <a:buSzPct val="100000"/>
              <a:buChar char="•"/>
            </a:pPr>
            <a:r>
              <a:rPr lang="en-US" sz="1400" dirty="0">
                <a:solidFill>
                  <a:srgbClr val="2C2C2C"/>
                </a:solidFill>
              </a:rPr>
              <a:t>Informal, conversational narrative language</a:t>
            </a:r>
            <a:endParaRPr lang="en-US" sz="1500" dirty="0"/>
          </a:p>
          <a:p>
            <a:pPr lvl="1" marL="685800" indent="-342900">
              <a:buSzPct val="100000"/>
              <a:buChar char="•"/>
            </a:pPr>
            <a:r>
              <a:rPr lang="en-US" sz="1400" dirty="0">
                <a:solidFill>
                  <a:srgbClr val="2C2C2C"/>
                </a:solidFill>
              </a:rPr>
              <a:t>Specific vocabulary and phrasing patterns from The Moth Radio Hour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003262"/>
                </a:solidFill>
              </a:rPr>
              <a:t>The problem: BERT has ~110M parameters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2C2C2C"/>
                </a:solidFill>
              </a:rPr>
              <a:t>We only have ~24K words of story text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2C2C2C"/>
                </a:solidFill>
              </a:rPr>
              <a:t>Full fine-tuning would overfit badly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262"/>
                </a:solidFill>
              </a:rPr>
              <a:t>→ We need parameter-efficient fine-tuning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326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4864"/>
            <a:ext cx="9144000" cy="27432"/>
          </a:xfrm>
          <a:prstGeom prst="rect">
            <a:avLst/>
          </a:prstGeom>
          <a:solidFill>
            <a:srgbClr val="FDB515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2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LoRA: low-rank adaptation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1520" y="1005840"/>
            <a:ext cx="475488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3262"/>
                </a:solidFill>
              </a:rPr>
              <a:t>Key insight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C2C2C"/>
                </a:solidFill>
              </a:rPr>
              <a:t>The task-specific weight update probably lives in a low-dimensional subspace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C2C2C"/>
                </a:solidFill>
              </a:rPr>
              <a:t>Instead of updating the full weight matrix W: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C2C2C"/>
                </a:solidFill>
              </a:rPr>
              <a:t>1. Freeze W (all original BERT parameters)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C2C2C"/>
                </a:solidFill>
              </a:rPr>
              <a:t>2. Add small trainable matrices A and B</a:t>
            </a:r>
            <a:endParaRPr lang="en-US" sz="1600" dirty="0"/>
          </a:p>
          <a:p>
            <a:pPr indent="0" marL="0">
              <a:buNone/>
            </a:pPr>
            <a:r>
              <a:rPr lang="en-US" sz="1400" b="1" dirty="0">
                <a:solidFill>
                  <a:srgbClr val="2C2C2C"/>
                </a:solidFill>
              </a:rPr>
              <a:t>3. The update is: ΔW = (γ/r) · A · Bᵀ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</a:rPr>
              <a:t>where r is the rank (e.g. 4 or 8)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760720" y="1097280"/>
            <a:ext cx="2926080" cy="3108960"/>
          </a:xfrm>
          <a:prstGeom prst="rect">
            <a:avLst/>
          </a:prstGeom>
          <a:solidFill>
            <a:srgbClr val="E8EEF5"/>
          </a:solidFill>
          <a:ln w="6350">
            <a:solidFill>
              <a:srgbClr val="00326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0" y="1188720"/>
            <a:ext cx="256032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3262"/>
                </a:solidFill>
              </a:rPr>
              <a:t>Example dimensions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C2C2C"/>
                </a:solidFill>
              </a:rPr>
              <a:t>Original W: 768 × 768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= 590K parameters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C2C2C"/>
                </a:solidFill>
              </a:rPr>
              <a:t>LoRA (rank 8):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C2C2C"/>
                </a:solidFill>
              </a:rPr>
              <a:t>A: 768 × 8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C2C2C"/>
                </a:solidFill>
              </a:rPr>
              <a:t>B: 768 × 8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= 12K parameters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400" b="1" dirty="0">
                <a:solidFill>
                  <a:srgbClr val="003262"/>
                </a:solidFill>
              </a:rPr>
              <a:t>98% reduction!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326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4864"/>
            <a:ext cx="9144000" cy="27432"/>
          </a:xfrm>
          <a:prstGeom prst="rect">
            <a:avLst/>
          </a:prstGeom>
          <a:solidFill>
            <a:srgbClr val="FDB515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2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LoRA intuition: PCA for weight updates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1520" y="1005840"/>
            <a:ext cx="768096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3262"/>
                </a:solidFill>
              </a:rPr>
              <a:t>Think of it like PCA: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2C2C2C"/>
                </a:solidFill>
              </a:rPr>
              <a:t>In PCA, a few principal components capture most of the variance in your data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2C2C2C"/>
                </a:solidFill>
              </a:rPr>
              <a:t>In LoRA, a few "principal directions" capture most of the needed adaptation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2C2C2C"/>
                </a:solidFill>
              </a:rPr>
              <a:t>The rank r controls how many directions you allow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262"/>
                </a:solidFill>
              </a:rPr>
              <a:t>Where do we apply LoRA?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2C2C2C"/>
                </a:solidFill>
              </a:rPr>
              <a:t>BERT's attention layers have query, key, and value projection matrices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2C2C2C"/>
                </a:solidFill>
              </a:rPr>
              <a:t>Standard approach: apply LoRA to query and value projections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2C2C2C"/>
                </a:solidFill>
              </a:rPr>
              <a:t>This adapts how BERT attends to context — exactly what we want for our narratives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326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4864"/>
            <a:ext cx="9144000" cy="27432"/>
          </a:xfrm>
          <a:prstGeom prst="rect">
            <a:avLst/>
          </a:prstGeom>
          <a:solidFill>
            <a:srgbClr val="FDB515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2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Hyperparameters to explore</a:t>
            </a:r>
            <a:endParaRPr lang="en-US" sz="2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97280"/>
          <a:ext cx="80467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2377440"/>
                <a:gridCol w="1463040"/>
                <a:gridCol w="182880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Parameter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2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What it controls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2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Start with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2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Try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26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C2C2C"/>
                          </a:solidFill>
                        </a:rPr>
                        <a:t>Rank (r)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C2C2C"/>
                          </a:solidFill>
                        </a:rPr>
                        <a:t>Capacity of adaptation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C2C2C"/>
                          </a:solidFill>
                        </a:rPr>
                        <a:t>8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C2C2C"/>
                          </a:solidFill>
                        </a:rPr>
                        <a:t>4, 8, 16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C2C2C"/>
                          </a:solidFill>
                        </a:rPr>
                        <a:t>lora_alpha (γ)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C2C2C"/>
                          </a:solidFill>
                        </a:rPr>
                        <a:t>Update magnitude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C2C2C"/>
                          </a:solidFill>
                        </a:rPr>
                        <a:t>2r (=16)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C2C2C"/>
                          </a:solidFill>
                        </a:rPr>
                        <a:t>r to 2r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C2C2C"/>
                          </a:solidFill>
                        </a:rPr>
                        <a:t>Target modules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C2C2C"/>
                          </a:solidFill>
                        </a:rPr>
                        <a:t>Which attention weights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C2C2C"/>
                          </a:solidFill>
                        </a:rPr>
                        <a:t>Q + V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C2C2C"/>
                          </a:solidFill>
                        </a:rPr>
                        <a:t>Add K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C2C2C"/>
                          </a:solidFill>
                        </a:rPr>
                        <a:t>Learning rate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C2C2C"/>
                          </a:solidFill>
                        </a:rPr>
                        <a:t>Optimizer step size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C2C2C"/>
                          </a:solidFill>
                        </a:rPr>
                        <a:t>2e-4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C2C2C"/>
                          </a:solidFill>
                        </a:rPr>
                        <a:t>1e-4 to 5e-4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C2C2C"/>
                          </a:solidFill>
                        </a:rPr>
                        <a:t>Epochs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C2C2C"/>
                          </a:solidFill>
                        </a:rPr>
                        <a:t>Passes over data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C2C2C"/>
                          </a:solidFill>
                        </a:rPr>
                        <a:t>3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C2C2C"/>
                          </a:solidFill>
                        </a:rPr>
                        <a:t>3-5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31520" y="393192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66666"/>
                </a:solidFill>
              </a:rPr>
              <a:t>Report at least 2-3 rank values and how downstream CC changes.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326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4864"/>
            <a:ext cx="9144000" cy="27432"/>
          </a:xfrm>
          <a:prstGeom prst="rect">
            <a:avLst/>
          </a:prstGeom>
          <a:solidFill>
            <a:srgbClr val="FDB515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2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Practical: extracting BERT embeddings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1520" y="1005840"/>
            <a:ext cx="768096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3262"/>
                </a:solidFill>
              </a:rPr>
              <a:t>The subword problem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C2C2C"/>
                </a:solidFill>
              </a:rPr>
              <a:t>BERT tokenizes into subwords, not words: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2C2C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"playing" → ["play", "##ing"]  (2 vectors, but we need 1)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2C2C2C"/>
                </a:solidFill>
              </a:rPr>
              <a:t>Solution: mean-pool subtokens belonging to the same word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2C2C2C"/>
                </a:solidFill>
              </a:rPr>
              <a:t>Use word_ids() to get the mapping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2C2C2C"/>
                </a:solidFill>
              </a:rPr>
              <a:t>Verify: len(embeddings) == len(words) or something is wrong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262"/>
                </a:solidFill>
              </a:rPr>
              <a:t>The 512-token limit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2C2C2C"/>
                </a:solidFill>
              </a:rPr>
              <a:t>Most stories &gt; 512 subtokens after tokenization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2C2C2C"/>
                </a:solidFill>
              </a:rPr>
              <a:t>Process in overlapping windows (512 tokens, stride 256)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2C2C2C"/>
                </a:solidFill>
              </a:rPr>
              <a:t>Average embeddings for words seen in multiple windows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326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4864"/>
            <a:ext cx="9144000" cy="27432"/>
          </a:xfrm>
          <a:prstGeom prst="rect">
            <a:avLst/>
          </a:prstGeom>
          <a:solidFill>
            <a:srgbClr val="FDB515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2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Important: two different BERT classes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3840480" cy="2560320"/>
          </a:xfrm>
          <a:prstGeom prst="rect">
            <a:avLst/>
          </a:prstGeom>
          <a:solidFill>
            <a:srgbClr val="E8EEF5"/>
          </a:solidFill>
          <a:ln w="6350">
            <a:solidFill>
              <a:srgbClr val="00326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188720"/>
            <a:ext cx="347472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3262"/>
                </a:solidFill>
              </a:rPr>
              <a:t>BertModel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(for extracting embeddings)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C2C2C"/>
                </a:solidFill>
              </a:rPr>
              <a:t>Output: last_hidden_state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2C2C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Shape: (seq_len, 768)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200" i="1" dirty="0">
                <a:solidFill>
                  <a:srgbClr val="2C2C2C"/>
                </a:solidFill>
              </a:rPr>
              <a:t>These are the contextual embeddings you want for the pipeline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846320" y="1097280"/>
            <a:ext cx="3840480" cy="2560320"/>
          </a:xfrm>
          <a:prstGeom prst="rect">
            <a:avLst/>
          </a:prstGeom>
          <a:solidFill>
            <a:srgbClr val="FFF3E0"/>
          </a:solidFill>
          <a:ln w="6350">
            <a:solidFill>
              <a:srgbClr val="E651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0" y="1188720"/>
            <a:ext cx="347472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65100"/>
                </a:solidFill>
              </a:rPr>
              <a:t>BertForMaskedLM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(for training with MLM loss)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C2C2C"/>
                </a:solidFill>
              </a:rPr>
              <a:t>Output: logits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2C2C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Shape: (seq_len, 30522)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200" i="1" dirty="0">
                <a:solidFill>
                  <a:srgbClr val="E65100"/>
                </a:solidFill>
              </a:rPr>
              <a:t>These are vocabulary predictions, NOT embeddings!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384048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2C2C2C"/>
                </a:solidFill>
              </a:rPr>
              <a:t>Train with BertForMaskedLM (need the MLM loss head)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2C2C2C"/>
                </a:solidFill>
              </a:rPr>
              <a:t>Extract embeddings from BertModel + LoRA adapter (need hidden states)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2C2C2C"/>
                </a:solidFill>
              </a:rPr>
              <a:t>The LoRA adapter modifies the attention layers, which are shared between both classes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326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4864"/>
            <a:ext cx="9144000" cy="27432"/>
          </a:xfrm>
          <a:prstGeom prst="rect">
            <a:avLst/>
          </a:prstGeom>
          <a:solidFill>
            <a:srgbClr val="FDB515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2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3.2 pipeline (what's new vs 3.1)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1520" y="1005840"/>
            <a:ext cx="768096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3262"/>
                </a:solidFill>
              </a:rPr>
              <a:t>Same as 3.1: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666666"/>
                </a:solidFill>
              </a:rPr>
              <a:t>Downsample → Delays → Trim → Ridge → CC evaluation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262"/>
                </a:solidFill>
              </a:rPr>
              <a:t>New for 3.2 (the embedding step only):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500" dirty="0">
                <a:solidFill>
                  <a:srgbClr val="2C2C2C"/>
                </a:solidFill>
              </a:rPr>
              <a:t>1. Extract embeddings from pretrained BERT (no training)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</a:rPr>
              <a:t>     → Handle subword aggregation and 512-token limit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500" dirty="0">
                <a:solidFill>
                  <a:srgbClr val="2C2C2C"/>
                </a:solidFill>
              </a:rPr>
              <a:t>2. Fine-tune BERT with LoRA on MLM objective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</a:rPr>
              <a:t>     → Tokenize stories into overlapping chunks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</a:rPr>
              <a:t>     → Train with DataCollatorForLanguageModeling (handles masking)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</a:rPr>
              <a:t>     → Save the LoRA adapter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500" dirty="0">
                <a:solidFill>
                  <a:srgbClr val="2C2C2C"/>
                </a:solidFill>
              </a:rPr>
              <a:t>3. Extract embeddings from fine-tuned BERT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</a:rPr>
              <a:t>     → Load adapter onto BertModel, use same extraction code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500" dirty="0">
                <a:solidFill>
                  <a:srgbClr val="2C2C2C"/>
                </a:solidFill>
              </a:rPr>
              <a:t>4. Compare all methods: BoW, W2V, GloVe, BERT, BERT+LoRA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326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4864"/>
            <a:ext cx="9144000" cy="27432"/>
          </a:xfrm>
          <a:prstGeom prst="rect">
            <a:avLst/>
          </a:prstGeom>
          <a:solidFill>
            <a:srgbClr val="FDB515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2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Questions to address in your report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1520" y="1005840"/>
            <a:ext cx="768096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03262"/>
                </a:solidFill>
              </a:rPr>
              <a:t>Does fine-tuning actually help?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</a:rPr>
              <a:t>Compare pretrained vs LoRA-finetuned BERT. If it doesn't help, why?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003262"/>
                </a:solidFill>
              </a:rPr>
              <a:t>Do contextual embeddings predict different voxels?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</a:rPr>
              <a:t>Jaccard similarity of top voxel sets across embedding methods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003262"/>
                </a:solidFill>
              </a:rPr>
              <a:t>Data leakage?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</a:rPr>
              <a:t>You fine-tune on story text, then use the same text for ridge. The MLM never sees fMRI data. Discuss.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003262"/>
                </a:solidFill>
              </a:rPr>
              <a:t>Stability of LoRA hyperparameters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</a:rPr>
              <a:t>If changing rank flips which voxels are well-predicted, the conclusions are fragile (PCS!)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003262"/>
                </a:solidFill>
              </a:rPr>
              <a:t>Weight interpretability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</a:rPr>
              <a:t>Why can't we just look at the ridge weights? (Answer: embedding dimensions aren't interpretable. SHAP/LIME in 3.3.)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0326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64592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Questions?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731520" y="292608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F4F2E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Lab work time — I'm here to help with 3.2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Stat 214 Discussion - Week 13</dc:title>
  <dc:subject>PptxGenJS Presentation</dc:subject>
  <dc:creator>Sean Richardson</dc:creator>
  <cp:lastModifiedBy>Sean Richardson</cp:lastModifiedBy>
  <cp:revision>1</cp:revision>
  <dcterms:created xsi:type="dcterms:W3CDTF">2026-04-09T23:36:56Z</dcterms:created>
  <dcterms:modified xsi:type="dcterms:W3CDTF">2026-04-09T23:36:56Z</dcterms:modified>
</cp:coreProperties>
</file>