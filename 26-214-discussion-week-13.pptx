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gXADA4fhkWW05CMxq7D77+GPt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04C19C-F3B4-488F-AC0F-0E86FD1BCCB8}">
  <a:tblStyle styleId="{3204C19C-F3B4-488F-AC0F-0E86FD1BCCB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6e657e0a2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6e657e0a2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6e657e0a2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6e657e0a2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6e657e0a2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6e657e0a2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e657e0a2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d6e657e0a2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6e657e0a2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e657e0a2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d6e657e0a2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6e657e0a2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26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51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DB515"/>
                </a:solidFill>
                <a:latin typeface="Arial"/>
                <a:ea typeface="Arial"/>
                <a:cs typeface="Arial"/>
                <a:sym typeface="Arial"/>
              </a:rPr>
              <a:t>STAT 214 Spring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Week 13 Discussion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2ED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F4F2ED"/>
                </a:solidFill>
                <a:latin typeface="Georgia"/>
                <a:ea typeface="Georgia"/>
                <a:cs typeface="Georgia"/>
                <a:sym typeface="Georgia"/>
              </a:rPr>
              <a:t>Lab 3.2: BERT &amp; LoRA Fine-Tuning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4/17/2026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2ED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4F2ED"/>
                </a:solidFill>
                <a:latin typeface="Arial"/>
                <a:ea typeface="Arial"/>
                <a:cs typeface="Arial"/>
                <a:sym typeface="Arial"/>
              </a:rPr>
              <a:t>GSI: Sean Richardson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Announcements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Office hours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Is W 12-3PM (Zoom) OK? Would you prefer in-person options?</a:t>
            </a:r>
            <a:endParaRPr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Lab 3 reminders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Part 3.2 check-in due 11:59pm, April 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Final report due 11:59pm, May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Reference guides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smrichardson.github.io/stat214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Lab 3 Reference Guide (pipeline, notation, PCS)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Lab 3.2 LoRA Fine-Tuning Guide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Where we are in Lab 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" name="Google Shape;41;p3"/>
          <p:cNvGraphicFramePr/>
          <p:nvPr/>
        </p:nvGraphicFramePr>
        <p:xfrm>
          <a:off x="54864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{3204C19C-F3B4-488F-AC0F-0E86FD1BCCB8}</a:tableStyleId>
              </a:tblPr>
              <a:tblGrid>
                <a:gridCol w="640075"/>
                <a:gridCol w="3657600"/>
                <a:gridCol w="1097275"/>
                <a:gridCol w="20116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What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Due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3.1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BoW, Word2Vec, GloVe → ridge → CC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Apr 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7C5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7C59"/>
                          </a:solidFill>
                        </a:rPr>
                        <a:t>Done!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26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3262"/>
                          </a:solidFill>
                        </a:rPr>
                        <a:t>3.2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BERT + LoRA → ridge → compare all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Apr 24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26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3262"/>
                          </a:solidFill>
                        </a:rPr>
                        <a:t>← you are here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3.3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SHAP/LIME interpretation + final report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May 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" name="Google Shape;42;p3"/>
          <p:cNvSpPr/>
          <p:nvPr/>
        </p:nvSpPr>
        <p:spPr>
          <a:xfrm>
            <a:off x="731520" y="2743200"/>
            <a:ext cx="76809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Today's focus: everything you need for 3.2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good news: your pipeline from 3.1 carries over. The only new part is the embedding step.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Remaining discussions: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Apr 24 — SHAP &amp; LIME interpretation (for 3.3)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May 1 — topic of your choice (last class!)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Outline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About 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~ 5 min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3.1 debrief: what went well, what was hard?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~ 5 min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LoRA and parameter-efficient fine-tuning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~ 15 min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Practical tips for 3.2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~ 10 min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Questions + lab work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~ 15 min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About 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Sean Richardson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he/him · seanrichardson@berkeley.edu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1st year PhD student in Statistics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MS in Statistics from UChicago (causal inference, interpretability)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BA in Philosophy from UCLA, 1 year of law school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Research interests: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AI evaluation, causal inference, mechanistic interpretability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Taking over from Sequoia for the rest of the semester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 title="la_chica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075" y="274325"/>
            <a:ext cx="2796924" cy="23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0188" y="2802075"/>
            <a:ext cx="3003811" cy="168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3.1 Debrief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What was your experience with 3.1?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What worked well?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What was the hardest part?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Memory? Storage? Bridges-2?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What correlation coefficients did you get?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Most voxels near zero is expected!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Any questions before we move to 3.2?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Why fine-tune BERT?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Pretrained BERT already produces contextual embeddings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But it was trained on Wikipedia + BookCorpus, not podcast stories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Fine-tuning adapts the representations to our domain: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Informal, conversational narrative language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Specific vocabulary and phrasing from The Moth Radio Hour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Question: BERT has ~110 million parameters. Our story data has ~24,000 words. Does anyone see a problem?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Why fine-tune BERT?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731520" y="1005840"/>
            <a:ext cx="76809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Pretrained BERT already produces contextual embeddings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But it was trained on Wikipedia + BookCorpus, not podcast stories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Fine-tuning adapts the representations to our domain: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Informal, conversational narrative language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Specific vocabulary and phrasing from The Moth Radio Hour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Question: BERT has ~110 million parameters. Our story data has ~24,000 words. Does anyone see a problem?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Massive overfitting risk! We need a way to fine-tune with far fewer parameters → </a:t>
            </a:r>
            <a:r>
              <a:rPr b="1" lang="en-US" sz="1500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“parameter-efficient finetuning</a:t>
            </a:r>
            <a:r>
              <a:rPr b="1" i="0" lang="en-US" sz="15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1500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1" i="0" lang="en-US" sz="15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 Also </a:t>
            </a:r>
            <a:r>
              <a:rPr b="1" lang="en-US" sz="1500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offers big compute savings!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LoRA: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w-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ank</a:t>
            </a: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daptation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731520" y="1005840"/>
            <a:ext cx="47548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1" lang="en-US" sz="18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We can probably find a good</a:t>
            </a: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task-specific weight update </a:t>
            </a: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b="1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low-dimensional subspace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algebra review: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What’s a subspace?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What does it mean for it to be low-dimensional?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800" y="975360"/>
            <a:ext cx="3352800" cy="304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e657e0a2_0_5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6e657e0a2_0_51"/>
          <p:cNvSpPr/>
          <p:nvPr/>
        </p:nvSpPr>
        <p:spPr>
          <a:xfrm>
            <a:off x="0" y="54864"/>
            <a:ext cx="9144000" cy="273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6e657e0a2_0_51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LoRA: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w-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ank</a:t>
            </a: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daptation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6e657e0a2_0_51"/>
          <p:cNvSpPr/>
          <p:nvPr/>
        </p:nvSpPr>
        <p:spPr>
          <a:xfrm>
            <a:off x="731520" y="1005840"/>
            <a:ext cx="4755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1" lang="en-US" sz="18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We can probably find a good task-specific weight update within a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low-dimensional subspace</a:t>
            </a:r>
            <a:r>
              <a:rPr b="1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which corresponds to the span of some low-rank matrix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d6e657e0a2_0_51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d6e657e0a2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800" y="975360"/>
            <a:ext cx="3352800" cy="3047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d6e657e0a2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025" y="2350525"/>
            <a:ext cx="1783975" cy="218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g3d6e657e0a2_0_51"/>
          <p:cNvCxnSpPr/>
          <p:nvPr/>
        </p:nvCxnSpPr>
        <p:spPr>
          <a:xfrm flipH="1" rot="10800000">
            <a:off x="4025350" y="3288075"/>
            <a:ext cx="1971300" cy="1575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e657e0a2_0_8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6e657e0a2_0_80"/>
          <p:cNvSpPr/>
          <p:nvPr/>
        </p:nvSpPr>
        <p:spPr>
          <a:xfrm>
            <a:off x="0" y="54864"/>
            <a:ext cx="9144000" cy="273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6e657e0a2_0_80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LoRA: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w-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ank</a:t>
            </a: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daptation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6e657e0a2_0_80"/>
          <p:cNvSpPr/>
          <p:nvPr/>
        </p:nvSpPr>
        <p:spPr>
          <a:xfrm>
            <a:off x="731520" y="1005840"/>
            <a:ext cx="4755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1" lang="en-US" sz="18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We can probably find a good task-specific weight update within a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low-dimensional subspace</a:t>
            </a:r>
            <a:r>
              <a:rPr b="1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– which corresponds to the span of some low-rank matrix</a:t>
            </a:r>
            <a:b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Q: How can we constrain the rank of a matrix when its parameters are being optimized by SGD?</a:t>
            </a:r>
            <a:endParaRPr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6e657e0a2_0_80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6e657e0a2_0_9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6e657e0a2_0_92"/>
          <p:cNvSpPr/>
          <p:nvPr/>
        </p:nvSpPr>
        <p:spPr>
          <a:xfrm>
            <a:off x="0" y="54864"/>
            <a:ext cx="9144000" cy="273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6e657e0a2_0_92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LoRA: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w-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ank</a:t>
            </a: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daptation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d6e657e0a2_0_92"/>
          <p:cNvSpPr/>
          <p:nvPr/>
        </p:nvSpPr>
        <p:spPr>
          <a:xfrm>
            <a:off x="731520" y="1005840"/>
            <a:ext cx="4755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1" lang="en-US" sz="18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We can probably find a good task-specific weight update within a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low-dimensional subspace</a:t>
            </a:r>
            <a:r>
              <a:rPr b="1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– which corresponds to the span of some low-rank matrix</a:t>
            </a:r>
            <a:br>
              <a:rPr b="1"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Q: How can we constrain the rank of a matrix when its parameters are being optimized by SGD?</a:t>
            </a:r>
            <a:endParaRPr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d6e657e0a2_0_92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d6e657e0a2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700" y="2971673"/>
            <a:ext cx="6090600" cy="19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6e657e0a2_0_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6e657e0a2_0_3"/>
          <p:cNvSpPr/>
          <p:nvPr/>
        </p:nvSpPr>
        <p:spPr>
          <a:xfrm>
            <a:off x="0" y="54864"/>
            <a:ext cx="9144000" cy="273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6e657e0a2_0_3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LoRA: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w-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ank</a:t>
            </a: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600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daptation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6e657e0a2_0_3"/>
          <p:cNvSpPr/>
          <p:nvPr/>
        </p:nvSpPr>
        <p:spPr>
          <a:xfrm>
            <a:off x="731520" y="1005840"/>
            <a:ext cx="4755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Instead of updating the full weight matrix W: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1. Freeze W (e.g., all original BERT parameters)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2. Add small trainable matrices A and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3. The update is: ΔW = (γ/r) · A · Bᵀ</a:t>
            </a:r>
            <a:endParaRPr b="1" i="0" sz="14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We could add this to W, but because matrix multiplication distributes over addition, can also keep W fixed and just route the inputs through both W and the LoRA update (you might see both formulations)</a:t>
            </a:r>
            <a:endParaRPr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where r is the rank (e.g. 4 or 8), and </a:t>
            </a:r>
            <a:r>
              <a:rPr b="1" lang="en-US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γ </a:t>
            </a:r>
            <a:r>
              <a:rPr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a scaling hyperparameter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6e657e0a2_0_3"/>
          <p:cNvSpPr/>
          <p:nvPr/>
        </p:nvSpPr>
        <p:spPr>
          <a:xfrm>
            <a:off x="5760720" y="1097280"/>
            <a:ext cx="2926200" cy="3108900"/>
          </a:xfrm>
          <a:prstGeom prst="rect">
            <a:avLst/>
          </a:prstGeom>
          <a:solidFill>
            <a:srgbClr val="E8EEF5"/>
          </a:solidFill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6e657e0a2_0_3"/>
          <p:cNvSpPr/>
          <p:nvPr/>
        </p:nvSpPr>
        <p:spPr>
          <a:xfrm>
            <a:off x="5943600" y="1188720"/>
            <a:ext cx="25602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Example dimensions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Original W: 768 × 768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590K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LoRA (rank 8):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A: 768 × 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B: 768 × 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= 12K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98% reduction!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6e657e0a2_0_3"/>
          <p:cNvSpPr txBox="1"/>
          <p:nvPr>
            <p:ph idx="4294967295" type="sldNum"/>
          </p:nvPr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LoRA intuition: PCA for weight updates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Think of it like PCA: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PCA, a few principal components capture most of the variance in your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In LoRA, a few "principal directions" capture most of the needed adaptation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rank r controls how many directions you allow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Where do we apply LoRA?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BERT's attention layers have query, key, and value matrices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Standard approach: apply LoRA to query and value </a:t>
            </a:r>
            <a:r>
              <a:rPr lang="en-US" sz="15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matrices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Hyperparameters to explore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11"/>
          <p:cNvGraphicFramePr/>
          <p:nvPr/>
        </p:nvGraphicFramePr>
        <p:xfrm>
          <a:off x="54864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{3204C19C-F3B4-488F-AC0F-0E86FD1BCCB8}</a:tableStyleId>
              </a:tblPr>
              <a:tblGrid>
                <a:gridCol w="1645925"/>
                <a:gridCol w="2377450"/>
                <a:gridCol w="1463050"/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What it controls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Start with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Try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6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Rank (r)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Capacity of adaptation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4, 8, 16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lora_alpha (γ)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Update magnitude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2C2C2C"/>
                          </a:solidFill>
                        </a:rPr>
                        <a:t>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r to 2r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Target modules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Which attention weights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Q + V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Add 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Learning rate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Optimizer step size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2C2C2C"/>
                          </a:solidFill>
                        </a:rPr>
                        <a:t>1</a:t>
                      </a: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e-4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1e-4 to 5e-4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C2C2C"/>
                          </a:solidFill>
                        </a:rPr>
                        <a:t>Epochs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Passes over data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C2C2C"/>
                          </a:solidFill>
                        </a:rPr>
                        <a:t>3-5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11"/>
          <p:cNvSpPr/>
          <p:nvPr/>
        </p:nvSpPr>
        <p:spPr>
          <a:xfrm>
            <a:off x="731520" y="365760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 full sweep of all hyperparameters is not expected.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More systematic approaches exist (e.g. Bayesian optimization), but grid search over a few values is fine for this lab.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Practical: extracting BERT embeddings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Quick question: how many r's are in "strawberry"?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Why do LLMs famously get this wrong?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Practical: extracting BERT embeddings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731520" y="1005840"/>
            <a:ext cx="76809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A7C59"/>
                </a:solidFill>
                <a:latin typeface="Calibri"/>
                <a:ea typeface="Calibri"/>
                <a:cs typeface="Calibri"/>
                <a:sym typeface="Calibri"/>
              </a:rPr>
              <a:t>LLMs don't see letters — they see tokens (subwords).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The subword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BERT tokenizes into subwords, not words: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ourier New"/>
                <a:ea typeface="Courier New"/>
                <a:cs typeface="Courier New"/>
                <a:sym typeface="Courier New"/>
              </a:rPr>
              <a:t>  "playing" → ["play", "##ing"]  (2 vectors, but we need 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Solution: mean-pool subtokens belonging to the same word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Use word_ids() to get the subtoken-to-word mapping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Sanity check: len(embeddings) must equal len(words)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The 512-token limit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Most stories &gt; 512 subtokens. Process in overlapping windows.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Average embeddings for words seen in multiple windows.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Important: two different BERT classes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E8EEF5"/>
          </a:solidFill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>
            <a:off x="640080" y="118872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BertModel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(for extracting embeddings)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Output: last_hidden_state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ourier New"/>
                <a:ea typeface="Courier New"/>
                <a:cs typeface="Courier New"/>
                <a:sym typeface="Courier New"/>
              </a:rPr>
              <a:t>Shape: (seq_len, 768)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These are the contextual embeddings you want for the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5029200" y="118872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BertForMaskedLM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(for training with MLM loss)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Output: logits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Courier New"/>
                <a:ea typeface="Courier New"/>
                <a:cs typeface="Courier New"/>
                <a:sym typeface="Courier New"/>
              </a:rPr>
              <a:t>Shape: (seq_len, 30522)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These are vocabulary predictions, NOT embeddings!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Train with BertForMaskedLM (need the MLM loss head)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Extract embeddings from BertModel + LoRA adapter (need hidden states)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LoRA adapter modifies the attention layers, which are shared between both classes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The 3.2 pipeline (what's new vs 3.1)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Same as 3.1: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Downsample → Delays → Trim → Ridge → CC 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New for 3.2 (the embedding step only):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1. Extract embeddings from pretrained BERT (no training)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 → Handle subword aggregation and 512-token limit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2. Fine-tune BERT with LoRA on MLM objective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 → Tokenize stories into overlapping chunks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 → Train with DataCollatorForLanguageModeling (handles masking)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 → Save the LoRA adapter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3. Extract embeddings from fine-tuned BERT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 → Load adapter onto BertModel, use same extraction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4. Compare all methods: BoW, W2V, GloVe, BERT, BERT+LoRA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Questions to address in your report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731520" y="1005840"/>
            <a:ext cx="76809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Does fine-tuning actually help?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Compare pretrained vs LoRA-finetuned BERT. If it doesn't help, why?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Do contextual embeddings predict different voxels?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Jaccard similarity of top voxel sets across embedding methods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Data leakage?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You fine-tune on story text, then use the same text for ridge. The MLM never sees fMRI data. Discuss.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Stability of LoRA hyperparameters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If changing rank flips which voxels are well-predicted, the conclusions are fragile (PCS!)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Weight interpretability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Why can't we just look at the ridge weights? (Answer: embedding dimensions aren't interpretable. SHAP/LIME in 3.3.)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003262"/>
                </a:solidFill>
                <a:latin typeface="Georgia"/>
                <a:ea typeface="Georgia"/>
                <a:cs typeface="Georgia"/>
                <a:sym typeface="Georgia"/>
              </a:rPr>
              <a:t>Upcoming sessions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Next week (4/24): SHAP &amp; LIME interpretation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You'll need this for Lab 3.3. I'll cover the wrapper pattern, how SHAP and LIME work, and practical tips for running them on your models.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3262"/>
                </a:solidFill>
                <a:latin typeface="Calibri"/>
                <a:ea typeface="Calibri"/>
                <a:cs typeface="Calibri"/>
                <a:sym typeface="Calibri"/>
              </a:rPr>
              <a:t>Last session (5/1): your choice!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Causal inference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Potential outcomes, DAGs, common identification strategies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RL and RLHF/RLVR/RLAIF for LLMs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Reward modeling, policy optimization, DeepSeek-style reasoning RL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Both (overview of each)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Show of hands at the end?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>
            <p:ph idx="4294967295" type="sldNum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262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2ED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F4F2ED"/>
                </a:solidFill>
                <a:latin typeface="Georgia"/>
                <a:ea typeface="Georgia"/>
                <a:cs typeface="Georgia"/>
                <a:sym typeface="Georgia"/>
              </a:rPr>
              <a:t>Lab work time — I'm here to help with 3.2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2026-04-10T00:25:26Z</dcterms:created>
  <dc:creator>Sean Richardson</dc:creator>
</cp:coreProperties>
</file>